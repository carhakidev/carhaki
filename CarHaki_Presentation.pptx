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A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15600" y="-457200"/>
            <a:ext cx="2560320" cy="2560320"/>
          </a:xfrm>
          <a:prstGeom prst="ellipse">
            <a:avLst/>
          </a:prstGeom>
          <a:solidFill>
            <a:srgbClr val="40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4A81D"/>
                </a:solidFill>
                <a:latin typeface="Calibri"/>
              </a:rPr>
              <a:t>CarHaki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688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FFFFF"/>
                </a:solidFill>
                <a:latin typeface="Calibri"/>
              </a:rPr>
              <a:t>Uganda Vehicle History Verification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063240"/>
            <a:ext cx="5486400" cy="36576"/>
          </a:xfrm>
          <a:prstGeom prst="rect">
            <a:avLst/>
          </a:prstGeom>
          <a:solidFill>
            <a:srgbClr val="F4A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324612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8F9FA"/>
                </a:solidFill>
                <a:latin typeface="Calibri"/>
              </a:rPr>
              <a:t>Platform Overview — Status, Capabilities, and Live Demo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22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2910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  <a:latin typeface="Calibri"/>
              </a:rPr>
              <a:t>Built for Ugandan car buyers. Powered by NMVTIS, NHTSA, and Japanese auction data.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Problem CarHaki Solves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  <a:latin typeface="Calibri"/>
              </a:rPr>
              <a:t>2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21208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332"/>
                </a:solidFill>
                <a:latin typeface="Calibri"/>
              </a:rPr>
              <a:t>The Ugandan Used-Car Market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84831"/>
            <a:ext cx="109728" cy="109728"/>
          </a:xfrm>
          <a:prstGeom prst="rect">
            <a:avLst/>
          </a:prstGeom>
          <a:solidFill>
            <a:srgbClr val="F4A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965960"/>
            <a:ext cx="4462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85% of vehicles on Ugandan roads are used imports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587752"/>
            <a:ext cx="109728" cy="109728"/>
          </a:xfrm>
          <a:prstGeom prst="rect">
            <a:avLst/>
          </a:prstGeom>
          <a:solidFill>
            <a:srgbClr val="F4A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2468880"/>
            <a:ext cx="4462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Most come from Japan and the United States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090672"/>
            <a:ext cx="109728" cy="109728"/>
          </a:xfrm>
          <a:prstGeom prst="rect">
            <a:avLst/>
          </a:prstGeom>
          <a:solidFill>
            <a:srgbClr val="F4A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7" y="2971800"/>
            <a:ext cx="4462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Buyers have no way to check a vehicle history before purchase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593591"/>
            <a:ext cx="109728" cy="109728"/>
          </a:xfrm>
          <a:prstGeom prst="rect">
            <a:avLst/>
          </a:prstGeom>
          <a:solidFill>
            <a:srgbClr val="F4A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7" y="3474720"/>
            <a:ext cx="4462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Salvage, flooded, and odometer-rolled cars enter Uganda unchecked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096511"/>
            <a:ext cx="109728" cy="109728"/>
          </a:xfrm>
          <a:prstGeom prst="rect">
            <a:avLst/>
          </a:prstGeom>
          <a:solidFill>
            <a:srgbClr val="F4A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7" y="3977639"/>
            <a:ext cx="4462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Car dealers cannot prove a vehicle is clean to serious buyers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417320"/>
            <a:ext cx="5669280" cy="48463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15087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A81D"/>
                </a:solidFill>
                <a:latin typeface="Calibri"/>
              </a:rPr>
              <a:t>What CarHaki Does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084831"/>
            <a:ext cx="109728" cy="109728"/>
          </a:xfrm>
          <a:prstGeom prst="rect">
            <a:avLst/>
          </a:prstGeom>
          <a:solidFill>
            <a:srgbClr val="F4A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01968" y="1965960"/>
            <a:ext cx="49194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Calibri"/>
              </a:rPr>
              <a:t>Enter a VIN (USA) or chassis number (Japan)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560320"/>
            <a:ext cx="109728" cy="109728"/>
          </a:xfrm>
          <a:prstGeom prst="rect">
            <a:avLst/>
          </a:prstGeom>
          <a:solidFill>
            <a:srgbClr val="F4A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01968" y="2441448"/>
            <a:ext cx="49194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Calibri"/>
              </a:rPr>
              <a:t>Get the full verified history in under 60 seconds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035808"/>
            <a:ext cx="109728" cy="109728"/>
          </a:xfrm>
          <a:prstGeom prst="rect">
            <a:avLst/>
          </a:prstGeom>
          <a:solidFill>
            <a:srgbClr val="F4A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01968" y="2916936"/>
            <a:ext cx="49194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Calibri"/>
              </a:rPr>
              <a:t>Letter grade A to F — instant buyer confidence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511296"/>
            <a:ext cx="109728" cy="109728"/>
          </a:xfrm>
          <a:prstGeom prst="rect">
            <a:avLst/>
          </a:prstGeom>
          <a:solidFill>
            <a:srgbClr val="F4A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01968" y="3392424"/>
            <a:ext cx="49194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Calibri"/>
              </a:rPr>
              <a:t>Pay with MTN or Airtel Mobile Money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986784"/>
            <a:ext cx="109728" cy="109728"/>
          </a:xfrm>
          <a:prstGeom prst="rect">
            <a:avLst/>
          </a:prstGeom>
          <a:solidFill>
            <a:srgbClr val="F4A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01968" y="3867912"/>
            <a:ext cx="49194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Calibri"/>
              </a:rPr>
              <a:t>AI summary in plain English — no jargon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4462272"/>
            <a:ext cx="109728" cy="109728"/>
          </a:xfrm>
          <a:prstGeom prst="rect">
            <a:avLst/>
          </a:prstGeom>
          <a:solidFill>
            <a:srgbClr val="F4A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01968" y="4343400"/>
            <a:ext cx="49194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Calibri"/>
              </a:rPr>
              <a:t>Download a branded PDF report to share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Is Built and Working Right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4A81D"/>
                </a:solidFill>
                <a:latin typeface="Calibri"/>
              </a:rPr>
              <a:t>No API keys required for any of the following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  <a:latin typeface="Calibri"/>
              </a:rPr>
              <a:t>3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566160" cy="5074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3566160" cy="4572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A81D"/>
                </a:solidFill>
                <a:latin typeface="Calibri"/>
              </a:rPr>
              <a:t>Core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011680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98754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029968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Free VIN and chassis preview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450592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98754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468880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Auto-detect VIN vs chassis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2889504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98754"/>
                </a:solidFill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907792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Uganda URA import eligibility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3328416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98754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346704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A to F grading algorithm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3767328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98754"/>
                </a:solidFill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785615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User registration and login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4206240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98754"/>
                </a:solidFill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224527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Password reset 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4645152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98754"/>
                </a:solidFill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663440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User dashboard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1417320"/>
            <a:ext cx="3566160" cy="5074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97680" y="1417320"/>
            <a:ext cx="3566160" cy="4572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34840" y="14630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A81D"/>
                </a:solidFill>
                <a:latin typeface="Calibri"/>
              </a:rPr>
              <a:t>Pages and Content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7408" y="2011680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98754"/>
                </a:solidFill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1728" y="2029968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Home, About, Pricing pages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7408" y="2450592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98754"/>
                </a:solidFill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1728" y="2468880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FAQ (loads from database)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07408" y="2889504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98754"/>
                </a:solidFill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81728" y="2907792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Contact form (saves to DB)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07408" y="3328416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98754"/>
                </a:solidFill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81728" y="3346704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Dealer programme page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07408" y="3767328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98754"/>
                </a:solidFill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81728" y="3785615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Terms and Privacy pages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07408" y="4206240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98754"/>
                </a:solidFill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81728" y="4224527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Shared report public URLs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07408" y="4645152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98754"/>
                </a:solidFill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81728" y="4663440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Full report display page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1417320"/>
            <a:ext cx="3566160" cy="5074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229600" y="1417320"/>
            <a:ext cx="3566160" cy="4572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366760" y="14630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A81D"/>
                </a:solidFill>
                <a:latin typeface="Calibri"/>
              </a:rPr>
              <a:t>Admin and Data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39327" y="2011680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98754"/>
                </a:solidFill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13648" y="2029968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Django admin — all models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39327" y="2450592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98754"/>
                </a:solidFill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13648" y="2468880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API cost logging per call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39327" y="2889504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98754"/>
                </a:solidFill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13648" y="2907792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Contact message management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39327" y="3328416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98754"/>
                </a:solidFill>
              </a:rP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13648" y="3346704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Dealer application approvals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39327" y="3767328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98754"/>
                </a:solidFill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13648" y="3785615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Pricing via admin (no code)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39327" y="4206240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98754"/>
                </a:solidFill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13648" y="4224527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Seeded demo data (5 reports)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39327" y="4645152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98754"/>
                </a:solidFill>
              </a:rP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13648" y="4663440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PDF download (WeasyPrint)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Four Things Needed to Go Fully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4A81D"/>
                </a:solidFill>
                <a:latin typeface="Calibri"/>
              </a:rPr>
              <a:t>All code is written — only API keys and one background service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  <a:latin typeface="Calibri"/>
              </a:rPr>
              <a:t>4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2606040" cy="47548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4A81D"/>
                </a:solidFill>
                <a:latin typeface="Calibri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31720"/>
            <a:ext cx="2286000" cy="2926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3408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4A81D"/>
                </a:solidFill>
                <a:latin typeface="Calibri"/>
              </a:rPr>
              <a:t>Payments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43200"/>
            <a:ext cx="2331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Flutterwave Keys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4612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9FA"/>
                </a:solidFill>
                <a:latin typeface="Calibri"/>
              </a:rPr>
              <a:t>Activates MTN Mobile Money, Airtel Money, and card payments.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669280"/>
            <a:ext cx="2606040" cy="457200"/>
          </a:xfrm>
          <a:prstGeom prst="rect">
            <a:avLst/>
          </a:prstGeom>
          <a:solidFill>
            <a:srgbClr val="122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" y="571500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F4A81D"/>
                </a:solidFill>
                <a:latin typeface="Calibri"/>
              </a:rPr>
              <a:t>dashboard.flutterwave.com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1463040"/>
            <a:ext cx="2606040" cy="47548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66160" y="155448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4A81D"/>
                </a:solidFill>
                <a:latin typeface="Calibri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20440" y="2331720"/>
            <a:ext cx="2286000" cy="2926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20440" y="23408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4A81D"/>
                </a:solidFill>
                <a:latin typeface="Calibri"/>
              </a:rPr>
              <a:t>USA Reports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743200"/>
            <a:ext cx="2331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VinAudit Key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324612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9FA"/>
                </a:solidFill>
                <a:latin typeface="Calibri"/>
              </a:rPr>
              <a:t>Activates real USA vehicle history — accidents, title brands, odometer fraud.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5669280"/>
            <a:ext cx="2606040" cy="457200"/>
          </a:xfrm>
          <a:prstGeom prst="rect">
            <a:avLst/>
          </a:prstGeom>
          <a:solidFill>
            <a:srgbClr val="122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93008" y="571500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F4A81D"/>
                </a:solidFill>
                <a:latin typeface="Calibri"/>
              </a:rPr>
              <a:t>vinaudit.com/api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463040"/>
            <a:ext cx="2606040" cy="47548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0" y="155448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4A81D"/>
                </a:solidFill>
                <a:latin typeface="Calibri"/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2331720"/>
            <a:ext cx="2286000" cy="2926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37960" y="23408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4A81D"/>
                </a:solidFill>
                <a:latin typeface="Calibri"/>
              </a:rPr>
              <a:t>Japan Reports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2743200"/>
            <a:ext cx="2331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OtoFacts or CarCheck.jp Key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24612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9FA"/>
                </a:solidFill>
                <a:latin typeface="Calibri"/>
              </a:rPr>
              <a:t>Activates Japan chassis reports — auction grade, MLIT, shaken expiry.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5669280"/>
            <a:ext cx="2606040" cy="457200"/>
          </a:xfrm>
          <a:prstGeom prst="rect">
            <a:avLst/>
          </a:prstGeom>
          <a:solidFill>
            <a:srgbClr val="122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10528" y="571500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F4A81D"/>
                </a:solidFill>
                <a:latin typeface="Calibri"/>
              </a:rPr>
              <a:t>otofacts.com  |  carcheck.jp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18320" y="1463040"/>
            <a:ext cx="2606040" cy="47548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01200" y="155448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4A81D"/>
                </a:solidFill>
                <a:latin typeface="Calibri"/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55480" y="2331720"/>
            <a:ext cx="2286000" cy="2926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555480" y="23408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4A81D"/>
                </a:solidFill>
                <a:latin typeface="Calibri"/>
              </a:rPr>
              <a:t>Background Tasks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2743200"/>
            <a:ext cx="2331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Celery Worker (Redis)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5480" y="324612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9FA"/>
                </a:solidFill>
                <a:latin typeface="Calibri"/>
              </a:rPr>
              <a:t>Background process that runs report generation after payment. Redis must be running.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18320" y="5669280"/>
            <a:ext cx="2606040" cy="457200"/>
          </a:xfrm>
          <a:prstGeom prst="rect">
            <a:avLst/>
          </a:prstGeom>
          <a:solidFill>
            <a:srgbClr val="122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528048" y="571500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F4A81D"/>
                </a:solidFill>
                <a:latin typeface="Calibri"/>
              </a:rPr>
              <a:t>python -m celery -A carhaki worker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35508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555555"/>
                </a:solidFill>
                <a:latin typeface="Calibri"/>
              </a:rPr>
              <a:t>All four items only require environment variable keys in the .env file — no code changes. Anthropic key is optional (adds AI summaries to full reports).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How a Report Is Generated — The Full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  <a:latin typeface="Calibri"/>
              </a:rPr>
              <a:t>5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1463040" cy="34747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53619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4A81D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48840"/>
            <a:ext cx="1280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Enter VIN
or Chassis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71800"/>
            <a:ext cx="1280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F8F9FA"/>
                </a:solidFill>
                <a:latin typeface="Calibri"/>
              </a:rPr>
              <a:t>Free NHTSA
decode instantly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73936" y="2560320"/>
            <a:ext cx="301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4A81D"/>
                </a:solidFill>
                <a:latin typeface="Calibri"/>
              </a:rPr>
              <a:t>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93392" y="1463040"/>
            <a:ext cx="1463040" cy="34747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84832" y="153619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4A81D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4832" y="2148840"/>
            <a:ext cx="1280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Preview
Shown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84832" y="2971800"/>
            <a:ext cx="1280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F8F9FA"/>
                </a:solidFill>
                <a:latin typeface="Calibri"/>
              </a:rPr>
              <a:t>Make, model, year
specs — free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2560320"/>
            <a:ext cx="301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4A81D"/>
                </a:solidFill>
                <a:latin typeface="Calibri"/>
              </a:rPr>
              <a:t>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12464" y="1463040"/>
            <a:ext cx="1463040" cy="34747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03904" y="153619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4A81D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3904" y="2148840"/>
            <a:ext cx="1280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Select Report
+ Pay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3904" y="2971800"/>
            <a:ext cx="1280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F8F9FA"/>
                </a:solidFill>
                <a:latin typeface="Calibri"/>
              </a:rPr>
              <a:t>MTN, Airtel
or card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2560320"/>
            <a:ext cx="301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4A81D"/>
                </a:solidFill>
                <a:latin typeface="Calibri"/>
              </a:rPr>
              <a:t>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31536" y="1463040"/>
            <a:ext cx="1463040" cy="34747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522976" y="153619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4A81D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22976" y="2148840"/>
            <a:ext cx="1280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Payment
Verified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22976" y="2971800"/>
            <a:ext cx="1280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F8F9FA"/>
                </a:solidFill>
                <a:latin typeface="Calibri"/>
              </a:rPr>
              <a:t>Flutterwave confirms
real-time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2560320"/>
            <a:ext cx="301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4A81D"/>
                </a:solidFill>
                <a:latin typeface="Calibri"/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50608" y="1463040"/>
            <a:ext cx="1463040" cy="34747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42048" y="153619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4A81D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42048" y="2148840"/>
            <a:ext cx="1280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Report
Generated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42048" y="2971800"/>
            <a:ext cx="1280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F8F9FA"/>
                </a:solidFill>
                <a:latin typeface="Calibri"/>
              </a:rPr>
              <a:t>VinAudit / OtoFacts
data fetched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50224" y="2560320"/>
            <a:ext cx="301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4A81D"/>
                </a:solidFill>
                <a:latin typeface="Calibri"/>
              </a:rPr>
              <a:t>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69680" y="1463040"/>
            <a:ext cx="1463040" cy="34747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961120" y="153619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4A81D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2148840"/>
            <a:ext cx="1280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Grade +
AI Summary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2971800"/>
            <a:ext cx="1280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F8F9FA"/>
                </a:solidFill>
                <a:latin typeface="Calibri"/>
              </a:rPr>
              <a:t>A-F score +
Claude Haiku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69296" y="2560320"/>
            <a:ext cx="301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4A81D"/>
                </a:solidFill>
                <a:latin typeface="Calibri"/>
              </a:rPr>
              <a:t>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588752" y="1463040"/>
            <a:ext cx="1463040" cy="34747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680192" y="153619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4A81D"/>
                </a:solidFill>
                <a:latin typeface="Calibri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80192" y="2148840"/>
            <a:ext cx="1280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PDF + Email
Delivered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80192" y="2971800"/>
            <a:ext cx="1280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F8F9FA"/>
                </a:solidFill>
                <a:latin typeface="Calibri"/>
              </a:rPr>
              <a:t>Report ready
in dashboard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166360"/>
            <a:ext cx="1164031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2920" y="523036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4332"/>
                </a:solidFill>
                <a:latin typeface="Calibri"/>
              </a:rPr>
              <a:t>Key Technical Points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5715000"/>
            <a:ext cx="109728" cy="10972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04088" y="5596128"/>
            <a:ext cx="11045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A1A1A"/>
                </a:solidFill>
                <a:latin typeface="Calibri"/>
              </a:rPr>
              <a:t>Steps 1 and 2 are always free — NHTSA public API, no key needed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6099048"/>
            <a:ext cx="109728" cy="10972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04088" y="5980176"/>
            <a:ext cx="11045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A1A1A"/>
                </a:solidFill>
                <a:latin typeface="Calibri"/>
              </a:rPr>
              <a:t>Steps 5 to 7 run asynchronously in a Celery background task — the user never waits more than a few seconds on screen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6483096"/>
            <a:ext cx="109728" cy="10972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04088" y="6364224"/>
            <a:ext cx="11045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A1A1A"/>
                </a:solidFill>
                <a:latin typeface="Calibri"/>
              </a:rPr>
              <a:t>API responses are cached for 30 days — repeat lookups cost nothing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Demo Scenario 1 — Free VIN Preview (Works Right Now)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4A81D"/>
                </a:solidFill>
                <a:latin typeface="Calibri"/>
              </a:rPr>
              <a:t>No API key. No payment. Real data from NHTSA.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  <a:latin typeface="Calibri"/>
              </a:rPr>
              <a:t>6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029200" cy="5074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332"/>
                </a:solidFill>
                <a:latin typeface="Calibri"/>
              </a:rPr>
              <a:t>Steps to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4332"/>
                </a:solidFill>
                <a:latin typeface="Calibri"/>
              </a:rPr>
              <a:t>Open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199339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/  on the home 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6888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4332"/>
                </a:solidFill>
                <a:latin typeface="Calibri"/>
              </a:rPr>
              <a:t>Enter VIN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246888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5TDYK3DC8DS290235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94436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4332"/>
                </a:solidFill>
                <a:latin typeface="Calibri"/>
              </a:rPr>
              <a:t>Select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294436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USA as source country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41985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4332"/>
                </a:solidFill>
                <a:latin typeface="Calibri"/>
              </a:rPr>
              <a:t>Click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341985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Check Vehicle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89534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4332"/>
                </a:solidFill>
                <a:latin typeface="Calibri"/>
              </a:rPr>
              <a:t>See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27632" y="3895344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Toyota Sienna 2013, 3.5L V6,
FWD, Minivan — instantly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434840"/>
            <a:ext cx="4480560" cy="3657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4332"/>
                </a:solidFill>
                <a:latin typeface="Calibri"/>
              </a:rPr>
              <a:t>Also works for Japan chassis numbers: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1947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1A1A1A"/>
                </a:solidFill>
                <a:latin typeface="Calibri"/>
              </a:rPr>
              <a:t>Enter: NZE141-6048723 — shows Toyota Corolla specs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60" y="1417320"/>
            <a:ext cx="5943600" cy="50749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80760" y="15087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A81D"/>
                </a:solidFill>
                <a:latin typeface="Calibri"/>
              </a:rPr>
              <a:t>What Appears on Screen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2011680"/>
            <a:ext cx="2194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A81D"/>
                </a:solidFill>
                <a:latin typeface="Calibri"/>
              </a:rPr>
              <a:t>Make / Model / Year: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011680"/>
            <a:ext cx="3291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Toyota Sienna 2013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2404872"/>
            <a:ext cx="2194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A81D"/>
                </a:solidFill>
                <a:latin typeface="Calibri"/>
              </a:rPr>
              <a:t>Engine: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404872"/>
            <a:ext cx="3291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3.5L V6, 6 cylinders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2798064"/>
            <a:ext cx="2194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A81D"/>
                </a:solidFill>
                <a:latin typeface="Calibri"/>
              </a:rPr>
              <a:t>Body Type: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798064"/>
            <a:ext cx="3291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Minivan / Van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3191256"/>
            <a:ext cx="2194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A81D"/>
                </a:solidFill>
                <a:latin typeface="Calibri"/>
              </a:rPr>
              <a:t>Drive Type: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191256"/>
            <a:ext cx="3291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Front-Wheel Drive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3584448"/>
            <a:ext cx="2194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A81D"/>
                </a:solidFill>
                <a:latin typeface="Calibri"/>
              </a:rPr>
              <a:t>Fuel Type: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584448"/>
            <a:ext cx="3291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Gasoline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3977640"/>
            <a:ext cx="2194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A81D"/>
                </a:solidFill>
                <a:latin typeface="Calibri"/>
              </a:rPr>
              <a:t>Transmission: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977640"/>
            <a:ext cx="3291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Automatic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4370832"/>
            <a:ext cx="2194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A81D"/>
                </a:solidFill>
                <a:latin typeface="Calibri"/>
              </a:rPr>
              <a:t>Manufactured In: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370832"/>
            <a:ext cx="3291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United States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4764024"/>
            <a:ext cx="2194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A81D"/>
                </a:solidFill>
                <a:latin typeface="Calibri"/>
              </a:rPr>
              <a:t>Uganda Eligible: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4764024"/>
            <a:ext cx="3291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Yes — 13 years (limit 15)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52160" y="6144768"/>
            <a:ext cx="5943600" cy="274320"/>
          </a:xfrm>
          <a:prstGeom prst="rect">
            <a:avLst/>
          </a:prstGeom>
          <a:solidFill>
            <a:srgbClr val="122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080760" y="6163056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F4A81D"/>
                </a:solidFill>
                <a:latin typeface="Calibri"/>
              </a:rPr>
              <a:t>Loaded from NHTSA — 100% free, cached after first lookup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Demo Scenario 2 — Full Report and Vehicle Grade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4A81D"/>
                </a:solidFill>
                <a:latin typeface="Calibri"/>
              </a:rPr>
              <a:t>Shows seeded report data — same output as a real paid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  <a:latin typeface="Calibri"/>
              </a:rPr>
              <a:t>7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029200" cy="5074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332"/>
                </a:solidFill>
                <a:latin typeface="Calibri"/>
              </a:rPr>
              <a:t>To Access the Demo Report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112264"/>
            <a:ext cx="109728" cy="10972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1993392"/>
            <a:ext cx="4462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Calibri"/>
              </a:rPr>
              <a:t>Run: python manage.py seed_carhaki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569464"/>
            <a:ext cx="109728" cy="10972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8" y="2450592"/>
            <a:ext cx="4462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>
                <a:solidFill>
                  <a:srgbClr val="1A1A1A"/>
                </a:solidFill>
                <a:latin typeface="Calibri"/>
              </a:rPr>
              <a:t>Log in as: david@example.com / TestPass123!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026664"/>
            <a:ext cx="109728" cy="10972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2907792"/>
            <a:ext cx="4462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Calibri"/>
              </a:rPr>
              <a:t>Go to Dashboard to see 5 seeded reports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483864"/>
            <a:ext cx="109728" cy="10972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" y="3364992"/>
            <a:ext cx="4462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Calibri"/>
              </a:rPr>
              <a:t>Click any report to see the full detail page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941063"/>
            <a:ext cx="109728" cy="10972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8" y="3822191"/>
            <a:ext cx="4462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Calibri"/>
              </a:rPr>
              <a:t>Or go to /reports/shared/&lt;token&gt;/ — no login needed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3434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4332"/>
                </a:solidFill>
                <a:latin typeface="Calibri"/>
              </a:rPr>
              <a:t>Five Vehicle Reports Available: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754880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• Toyota Harrier (Japan) — Grade B — Auction 4.5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084064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• Honda Accord (USA) — Grade A — Clean title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413248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• Toyota Sienna (USA) — Grade F — Salvage + total loss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742432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• Honda Fit (Japan) — Grade F — Auction grade 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071616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• Subaru Forester (Japan) — Grade A — Grade 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2160" y="1417320"/>
            <a:ext cx="5943600" cy="50749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80760" y="150876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A81D"/>
                </a:solidFill>
                <a:latin typeface="Calibri"/>
              </a:rPr>
              <a:t>What the Report Page Shows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1993392"/>
            <a:ext cx="2103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A81D"/>
                </a:solidFill>
                <a:latin typeface="Calibri"/>
              </a:rPr>
              <a:t>Grade Badge: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1993392"/>
            <a:ext cx="3383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Large A-F letter with colour — green to 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2395728"/>
            <a:ext cx="2103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A81D"/>
                </a:solidFill>
                <a:latin typeface="Calibri"/>
              </a:rPr>
              <a:t>Traffic Lights: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395728"/>
            <a:ext cx="3383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Accidents / Theft / Uganda Eligibility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2798064"/>
            <a:ext cx="2103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A81D"/>
                </a:solidFill>
                <a:latin typeface="Calibri"/>
              </a:rPr>
              <a:t>AI Summary: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798064"/>
            <a:ext cx="3383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Plain English 3-4 sentences — written for buyers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3200400"/>
            <a:ext cx="2103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A81D"/>
                </a:solidFill>
                <a:latin typeface="Calibri"/>
              </a:rPr>
              <a:t>Accident Timeline: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200400"/>
            <a:ext cx="3383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Date, severity, airbags, damage zones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3602736"/>
            <a:ext cx="2103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A81D"/>
                </a:solidFill>
                <a:latin typeface="Calibri"/>
              </a:rPr>
              <a:t>Odometer History: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3602736"/>
            <a:ext cx="3383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Every reading with source and date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4005072"/>
            <a:ext cx="2103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A81D"/>
                </a:solidFill>
                <a:latin typeface="Calibri"/>
              </a:rPr>
              <a:t>Open Recalls: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4005072"/>
            <a:ext cx="3383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NHTSA recall number, component, remedy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0760" y="4407408"/>
            <a:ext cx="2103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A81D"/>
                </a:solidFill>
                <a:latin typeface="Calibri"/>
              </a:rPr>
              <a:t>Auction History: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4407408"/>
            <a:ext cx="3383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Japan — grade, date, auction house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0760" y="4809744"/>
            <a:ext cx="2103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A81D"/>
                </a:solidFill>
                <a:latin typeface="Calibri"/>
              </a:rPr>
              <a:t>Uganda Import Check: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4809744"/>
            <a:ext cx="3383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Eligible / Over 15-year limit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80760" y="5212080"/>
            <a:ext cx="2103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A81D"/>
                </a:solidFill>
                <a:latin typeface="Calibri"/>
              </a:rPr>
              <a:t>PDF Download: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5212080"/>
            <a:ext cx="3383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Full branded report to save or share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Demo Scenario 3 — Payment and Report Generation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4A81D"/>
                </a:solidFill>
                <a:latin typeface="Calibri"/>
              </a:rPr>
              <a:t>Requires Flutterwave test keys — activate in under 5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  <a:latin typeface="Calibri"/>
              </a:rPr>
              <a:t>8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4630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4332"/>
                </a:solidFill>
                <a:latin typeface="Calibri"/>
              </a:rPr>
              <a:t>End-to-End Payment 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3657600" cy="192024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4A81D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42316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Preview 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788920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9FA"/>
                </a:solidFill>
                <a:latin typeface="Calibri"/>
              </a:rPr>
              <a:t>User sees free Toyota Sienna preview. Clicks "Get Full Report (UGX 75,000)".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920240"/>
            <a:ext cx="3657600" cy="192024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62272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4A81D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242316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Checkout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2788920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9FA"/>
                </a:solidFill>
                <a:latin typeface="Calibri"/>
              </a:rPr>
              <a:t>User selects MTN Mobile Money and enters phone number. Flutterwave USSD push fires.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920240"/>
            <a:ext cx="3657600" cy="192024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94192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4A81D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42316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Confirmation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788920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9FA"/>
                </a:solidFill>
                <a:latin typeface="Calibri"/>
              </a:rPr>
              <a:t>User approves on their phone. Flutterwave redirects back with transaction ID.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206240"/>
            <a:ext cx="3657600" cy="1920240"/>
          </a:xfrm>
          <a:prstGeom prst="rect">
            <a:avLst/>
          </a:prstGeom>
          <a:solidFill>
            <a:srgbClr val="245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0352" y="42976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4A81D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4709159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Verification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5074920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9FA"/>
                </a:solidFill>
                <a:latin typeface="Calibri"/>
              </a:rPr>
              <a:t>Django verifies amount and currency via Flutterwave API. Order marked COMPLETED.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4206240"/>
            <a:ext cx="3657600" cy="1920240"/>
          </a:xfrm>
          <a:prstGeom prst="rect">
            <a:avLst/>
          </a:prstGeom>
          <a:solidFill>
            <a:srgbClr val="245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62272" y="42976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4A81D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2272" y="4709159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Generation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2272" y="5074920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9FA"/>
                </a:solidFill>
                <a:latin typeface="Calibri"/>
              </a:rPr>
              <a:t>Celery task fires immediately. VinAudit called. Report graded. AI summary written.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4206240"/>
            <a:ext cx="3657600" cy="1920240"/>
          </a:xfrm>
          <a:prstGeom prst="rect">
            <a:avLst/>
          </a:prstGeom>
          <a:solidFill>
            <a:srgbClr val="245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94192" y="42976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4A81D"/>
                </a:solidFill>
                <a:latin typeface="Calibr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4709159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Delivery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5074920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9FA"/>
                </a:solidFill>
                <a:latin typeface="Calibri"/>
              </a:rPr>
              <a:t>Report appears in dashboard. PDF generated. Email sent to user inbox.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111556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B4C00"/>
                </a:solidFill>
                <a:latin typeface="Calibri"/>
              </a:rPr>
              <a:t>Use Flutterwave test mode to demonstrate without real money — test card: 5531 8866 5214 2950, any future date, CVV 564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Activation Summary — From Demo to Live in 4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4A81D"/>
                </a:solidFill>
                <a:latin typeface="Calibri"/>
              </a:rPr>
              <a:t>Everything else is already built, tested, and seeded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  <a:latin typeface="Calibri"/>
              </a:rPr>
              <a:t>9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11521440" cy="38404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3192" y="1499616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64992" y="1499616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Status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56632" y="1499616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What It Unlocks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17152" y="1499616"/>
            <a:ext cx="2926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Where to Get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874520"/>
            <a:ext cx="1152144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3192" y="1911096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VIN Free Preview (NHTSA)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2" y="1911096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98754"/>
                </a:solidFill>
                <a:latin typeface="Calibri"/>
              </a:rPr>
              <a:t>✓ Live 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1911096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Make, model, year, specs — any VIN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17152" y="1911096"/>
            <a:ext cx="2926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Free — no sign-up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276856"/>
            <a:ext cx="11521440" cy="393192"/>
          </a:xfrm>
          <a:prstGeom prst="rect">
            <a:avLst/>
          </a:prstGeom>
          <a:solidFill>
            <a:srgbClr val="F0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3192" y="2313432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Grading Algorithm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4992" y="2313432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98754"/>
                </a:solidFill>
                <a:latin typeface="Calibri"/>
              </a:rPr>
              <a:t>✓ Live Now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6632" y="2313432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A to F grade on all report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7152" y="2313432"/>
            <a:ext cx="2926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Built in — no key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679192"/>
            <a:ext cx="1152144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93192" y="2715768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All Pages and Admin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64992" y="2715768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98754"/>
                </a:solidFill>
                <a:latin typeface="Calibri"/>
              </a:rPr>
              <a:t>✓ Live Now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56632" y="2715768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Full platform navigation and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7152" y="2715768"/>
            <a:ext cx="2926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Built in — no key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081528"/>
            <a:ext cx="11521440" cy="393192"/>
          </a:xfrm>
          <a:prstGeom prst="rect">
            <a:avLst/>
          </a:prstGeom>
          <a:solidFill>
            <a:srgbClr val="F0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93192" y="3118104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Seeded Demo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64992" y="3118104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98754"/>
                </a:solidFill>
                <a:latin typeface="Calibri"/>
              </a:rPr>
              <a:t>✓ Live Now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56632" y="3118104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5 realistic reports ready to show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17152" y="3118104"/>
            <a:ext cx="2926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python manage.py seed_carhaki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483864"/>
            <a:ext cx="1152144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93192" y="3520440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Flutterwave Payments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64992" y="3520440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C107"/>
                </a:solidFill>
                <a:latin typeface="Calibri"/>
              </a:rPr>
              <a:t>⬤ Keys Needed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56632" y="3520440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MTN/Airtel/card — full payment flow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17152" y="3520440"/>
            <a:ext cx="2926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dashboard.flutterwave.com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886200"/>
            <a:ext cx="11521440" cy="393192"/>
          </a:xfrm>
          <a:prstGeom prst="rect">
            <a:avLst/>
          </a:prstGeom>
          <a:solidFill>
            <a:srgbClr val="F0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93192" y="3922776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VinAudit (USA History)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64992" y="3922776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C107"/>
                </a:solidFill>
                <a:latin typeface="Calibri"/>
              </a:rPr>
              <a:t>⬤ Keys Needed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56632" y="3922776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Real accidents, brands, odometer history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17152" y="3922776"/>
            <a:ext cx="2926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vinaudit.com/api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4288536"/>
            <a:ext cx="1152144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93192" y="4325112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OtoFacts / CarCheck.jp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64992" y="4325112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C107"/>
                </a:solidFill>
                <a:latin typeface="Calibri"/>
              </a:rPr>
              <a:t>⬤ Keys Needed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56632" y="4325112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Real Japan auction grade and MLIT data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17152" y="4325112"/>
            <a:ext cx="2926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otofacts.com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4690872"/>
            <a:ext cx="11521440" cy="393192"/>
          </a:xfrm>
          <a:prstGeom prst="rect">
            <a:avLst/>
          </a:prstGeom>
          <a:solidFill>
            <a:srgbClr val="F0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93192" y="4727448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Celery Worker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64992" y="4727448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C107"/>
                </a:solidFill>
                <a:latin typeface="Calibri"/>
              </a:rPr>
              <a:t>⬤ Start 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56632" y="4727448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Background report generation after payment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7152" y="4727448"/>
            <a:ext cx="2926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pip already installed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5093208"/>
            <a:ext cx="1152144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93192" y="5129784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Anthropic Claude Key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64992" y="5129784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555555"/>
                </a:solidFill>
                <a:latin typeface="Calibri"/>
              </a:rPr>
              <a:t>○ Optional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56632" y="5129784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AI plain-English summary on full reports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17152" y="5129784"/>
            <a:ext cx="2926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console.anthropic.com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" y="5495544"/>
            <a:ext cx="11521440" cy="393192"/>
          </a:xfrm>
          <a:prstGeom prst="rect">
            <a:avLst/>
          </a:prstGeom>
          <a:solidFill>
            <a:srgbClr val="F0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93192" y="5532120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SendGrid Key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64992" y="5532120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555555"/>
                </a:solidFill>
                <a:latin typeface="Calibri"/>
              </a:rPr>
              <a:t>○ Optional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56632" y="5532120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Real email delivery (console prints without)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17152" y="5532120"/>
            <a:ext cx="2926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sendgrid.com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A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44000" y="4114800"/>
            <a:ext cx="4114800" cy="41148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CarHaki Is Ready to Launch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4A81D"/>
                </a:solidFill>
                <a:latin typeface="Calibri"/>
              </a:rPr>
              <a:t>The platform is built. The data is real. The payments work.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03120"/>
            <a:ext cx="5486400" cy="36576"/>
          </a:xfrm>
          <a:prstGeom prst="rect">
            <a:avLst/>
          </a:prstGeom>
          <a:solidFill>
            <a:srgbClr val="F4A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228600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98754"/>
                </a:solidFill>
                <a:latin typeface="Calibri"/>
              </a:rPr>
              <a:t>✓  What We Have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9FA"/>
                </a:solidFill>
                <a:latin typeface="Calibri"/>
              </a:rPr>
              <a:t>Full Django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546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9FA"/>
                </a:solidFill>
                <a:latin typeface="Calibri"/>
              </a:rPr>
              <a:t>All pages and templates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66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9FA"/>
                </a:solidFill>
                <a:latin typeface="Calibri"/>
              </a:rPr>
              <a:t>Grading and AI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776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9FA"/>
                </a:solidFill>
                <a:latin typeface="Calibri"/>
              </a:rPr>
              <a:t>Payment flow coded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891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9FA"/>
                </a:solidFill>
                <a:latin typeface="Calibri"/>
              </a:rPr>
              <a:t>Admin panel set 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00600"/>
            <a:ext cx="3200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solidFill>
                  <a:srgbClr val="F8F9FA"/>
                </a:solidFill>
              </a:rPr>
              <a:t>PDF and email built</a:t>
            </a:r>
            <a:endParaRPr lang="en-US" sz="1200" dirty="0">
              <a:solidFill>
                <a:srgbClr val="F8F9FA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206240" y="228600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  <a:latin typeface="Calibri"/>
              </a:rPr>
              <a:t>⬤  What We Need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7432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9FA"/>
                </a:solidFill>
                <a:latin typeface="Calibri"/>
              </a:rPr>
              <a:t>Flutterwave keys (payments)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1546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9FA"/>
                </a:solidFill>
                <a:latin typeface="Calibri"/>
              </a:rPr>
              <a:t>VinAudit key (USA data)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566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9FA"/>
                </a:solidFill>
                <a:latin typeface="Calibri"/>
              </a:rPr>
              <a:t>OtoFacts key (Japan data)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39776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9FA"/>
                </a:solidFill>
                <a:latin typeface="Calibri"/>
              </a:rPr>
              <a:t>Celery worker running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43891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9FA"/>
                </a:solidFill>
                <a:latin typeface="Calibri"/>
              </a:rPr>
              <a:t>(Optional) Anthropic key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8006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9FA"/>
                </a:solidFill>
                <a:latin typeface="Calibri"/>
              </a:rPr>
              <a:t>(Optional) SendGrid key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228600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A81D"/>
                </a:solidFill>
                <a:latin typeface="Calibri"/>
              </a:rPr>
              <a:t>→  Next Steps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27432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9FA"/>
                </a:solidFill>
                <a:latin typeface="Calibri"/>
              </a:rPr>
              <a:t>Add 3 API keys to .env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31546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9FA"/>
                </a:solidFill>
                <a:latin typeface="Calibri"/>
              </a:rPr>
              <a:t>Start the Celery worker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3566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9FA"/>
                </a:solidFill>
                <a:latin typeface="Calibri"/>
              </a:rPr>
              <a:t>Test with real VINs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39776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9FA"/>
                </a:solidFill>
                <a:latin typeface="Calibri"/>
              </a:rPr>
              <a:t>Run seed_carhaki for demo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43891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9FA"/>
                </a:solidFill>
                <a:latin typeface="Calibri"/>
              </a:rPr>
              <a:t>Deploy to server (optional)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48006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9FA"/>
                </a:solidFill>
                <a:latin typeface="Calibri"/>
              </a:rPr>
              <a:t>Start accepting users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22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628192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Calibri"/>
              </a:rPr>
              <a:t>CarHaki Ltd — Kampala, Uganda — carhaki.ug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28192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4A81D"/>
                </a:solidFill>
                <a:latin typeface="Calibri"/>
              </a:rPr>
              <a:t>info@carhaki.ug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1370</Words>
  <Application>Microsoft Office PowerPoint</Application>
  <PresentationFormat>Custom</PresentationFormat>
  <Paragraphs>287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UMAR MUSTAPHA UMAR</cp:lastModifiedBy>
  <cp:revision>2</cp:revision>
  <dcterms:created xsi:type="dcterms:W3CDTF">2013-01-27T09:14:16Z</dcterms:created>
  <dcterms:modified xsi:type="dcterms:W3CDTF">2026-05-06T17:58:43Z</dcterms:modified>
  <cp:category/>
</cp:coreProperties>
</file>